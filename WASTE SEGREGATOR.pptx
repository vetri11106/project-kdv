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Times New Roman MT" charset="1" panose="02030502070405020303"/>
      <p:regular r:id="rId11"/>
    </p:embeddedFont>
    <p:embeddedFont>
      <p:font typeface="Arial Bold" charset="1" panose="020B0704020202020204"/>
      <p:regular r:id="rId12"/>
    </p:embeddedFont>
    <p:embeddedFont>
      <p:font typeface="Times New Roman MT Bold" charset="1" panose="02030802070405020303"/>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23870" y="3706388"/>
            <a:ext cx="6526370" cy="6526370"/>
          </a:xfrm>
          <a:custGeom>
            <a:avLst/>
            <a:gdLst/>
            <a:ahLst/>
            <a:cxnLst/>
            <a:rect r="r" b="b" t="t" l="l"/>
            <a:pathLst>
              <a:path h="6526370" w="6526370">
                <a:moveTo>
                  <a:pt x="0" y="0"/>
                </a:moveTo>
                <a:lnTo>
                  <a:pt x="6526370" y="0"/>
                </a:lnTo>
                <a:lnTo>
                  <a:pt x="6526370" y="6526370"/>
                </a:lnTo>
                <a:lnTo>
                  <a:pt x="0" y="6526370"/>
                </a:lnTo>
                <a:lnTo>
                  <a:pt x="0" y="0"/>
                </a:lnTo>
                <a:close/>
              </a:path>
            </a:pathLst>
          </a:custGeom>
          <a:blipFill>
            <a:blip r:embed="rId2"/>
            <a:stretch>
              <a:fillRect l="0" t="0" r="0" b="0"/>
            </a:stretch>
          </a:blipFill>
        </p:spPr>
      </p:sp>
      <p:grpSp>
        <p:nvGrpSpPr>
          <p:cNvPr name="Group 3" id="3"/>
          <p:cNvGrpSpPr/>
          <p:nvPr/>
        </p:nvGrpSpPr>
        <p:grpSpPr>
          <a:xfrm rot="0">
            <a:off x="2843212" y="328612"/>
            <a:ext cx="12372975" cy="942975"/>
            <a:chOff x="0" y="0"/>
            <a:chExt cx="11731413" cy="894080"/>
          </a:xfrm>
        </p:grpSpPr>
        <p:sp>
          <p:nvSpPr>
            <p:cNvPr name="Freeform 4" id="4"/>
            <p:cNvSpPr/>
            <p:nvPr/>
          </p:nvSpPr>
          <p:spPr>
            <a:xfrm flipH="false" flipV="false" rot="0">
              <a:off x="0" y="0"/>
              <a:ext cx="11717909" cy="880491"/>
            </a:xfrm>
            <a:custGeom>
              <a:avLst/>
              <a:gdLst/>
              <a:ahLst/>
              <a:cxnLst/>
              <a:rect r="r" b="b" t="t" l="l"/>
              <a:pathLst>
                <a:path h="880491" w="11717909">
                  <a:moveTo>
                    <a:pt x="0" y="880491"/>
                  </a:moveTo>
                  <a:lnTo>
                    <a:pt x="0" y="13589"/>
                  </a:lnTo>
                  <a:cubicBezTo>
                    <a:pt x="0" y="6096"/>
                    <a:pt x="6096" y="0"/>
                    <a:pt x="13589" y="0"/>
                  </a:cubicBezTo>
                  <a:lnTo>
                    <a:pt x="11717909" y="0"/>
                  </a:lnTo>
                  <a:lnTo>
                    <a:pt x="11717909" y="27051"/>
                  </a:lnTo>
                  <a:lnTo>
                    <a:pt x="13589" y="27051"/>
                  </a:lnTo>
                  <a:lnTo>
                    <a:pt x="13589" y="13589"/>
                  </a:lnTo>
                  <a:lnTo>
                    <a:pt x="27051" y="13589"/>
                  </a:lnTo>
                  <a:lnTo>
                    <a:pt x="27051" y="880491"/>
                  </a:lnTo>
                  <a:close/>
                </a:path>
              </a:pathLst>
            </a:custGeom>
            <a:solidFill>
              <a:srgbClr val="365010"/>
            </a:solidFill>
          </p:spPr>
        </p:sp>
      </p:grpSp>
      <p:grpSp>
        <p:nvGrpSpPr>
          <p:cNvPr name="Group 5" id="5"/>
          <p:cNvGrpSpPr/>
          <p:nvPr/>
        </p:nvGrpSpPr>
        <p:grpSpPr>
          <a:xfrm rot="0">
            <a:off x="2957512" y="9244012"/>
            <a:ext cx="12372975" cy="28575"/>
            <a:chOff x="0" y="0"/>
            <a:chExt cx="11731413" cy="27093"/>
          </a:xfrm>
        </p:grpSpPr>
        <p:sp>
          <p:nvSpPr>
            <p:cNvPr name="Freeform 6" id="6"/>
            <p:cNvSpPr/>
            <p:nvPr/>
          </p:nvSpPr>
          <p:spPr>
            <a:xfrm flipH="false" flipV="false" rot="0">
              <a:off x="13589" y="0"/>
              <a:ext cx="11704320" cy="27051"/>
            </a:xfrm>
            <a:custGeom>
              <a:avLst/>
              <a:gdLst/>
              <a:ahLst/>
              <a:cxnLst/>
              <a:rect r="r" b="b" t="t" l="l"/>
              <a:pathLst>
                <a:path h="27051" w="11704320">
                  <a:moveTo>
                    <a:pt x="0" y="0"/>
                  </a:moveTo>
                  <a:lnTo>
                    <a:pt x="11704320" y="0"/>
                  </a:lnTo>
                  <a:lnTo>
                    <a:pt x="11704320" y="27051"/>
                  </a:lnTo>
                  <a:lnTo>
                    <a:pt x="0" y="27051"/>
                  </a:lnTo>
                  <a:close/>
                </a:path>
              </a:pathLst>
            </a:custGeom>
            <a:solidFill>
              <a:srgbClr val="365010"/>
            </a:solidFill>
          </p:spPr>
        </p:sp>
      </p:grpSp>
      <p:grpSp>
        <p:nvGrpSpPr>
          <p:cNvPr name="Group 7" id="7"/>
          <p:cNvGrpSpPr/>
          <p:nvPr/>
        </p:nvGrpSpPr>
        <p:grpSpPr>
          <a:xfrm rot="0">
            <a:off x="3181350" y="1809750"/>
            <a:ext cx="11925300" cy="1409700"/>
            <a:chOff x="0" y="0"/>
            <a:chExt cx="11306951" cy="1336604"/>
          </a:xfrm>
        </p:grpSpPr>
        <p:sp>
          <p:nvSpPr>
            <p:cNvPr name="Freeform 8" id="8"/>
            <p:cNvSpPr/>
            <p:nvPr/>
          </p:nvSpPr>
          <p:spPr>
            <a:xfrm flipH="false" flipV="false" rot="0">
              <a:off x="0" y="0"/>
              <a:ext cx="11288903" cy="1318514"/>
            </a:xfrm>
            <a:custGeom>
              <a:avLst/>
              <a:gdLst/>
              <a:ahLst/>
              <a:cxnLst/>
              <a:rect r="r" b="b" t="t" l="l"/>
              <a:pathLst>
                <a:path h="1318514" w="11288903">
                  <a:moveTo>
                    <a:pt x="0" y="1318514"/>
                  </a:moveTo>
                  <a:lnTo>
                    <a:pt x="0" y="18034"/>
                  </a:lnTo>
                  <a:cubicBezTo>
                    <a:pt x="0" y="8128"/>
                    <a:pt x="8128" y="0"/>
                    <a:pt x="18034" y="0"/>
                  </a:cubicBezTo>
                  <a:lnTo>
                    <a:pt x="11288903" y="0"/>
                  </a:lnTo>
                  <a:lnTo>
                    <a:pt x="11288903" y="36068"/>
                  </a:lnTo>
                  <a:lnTo>
                    <a:pt x="18034" y="36068"/>
                  </a:lnTo>
                  <a:lnTo>
                    <a:pt x="18034" y="18034"/>
                  </a:lnTo>
                  <a:lnTo>
                    <a:pt x="36068" y="18034"/>
                  </a:lnTo>
                  <a:lnTo>
                    <a:pt x="36068" y="1318514"/>
                  </a:lnTo>
                  <a:close/>
                </a:path>
              </a:pathLst>
            </a:custGeom>
            <a:solidFill>
              <a:srgbClr val="365010"/>
            </a:solidFill>
          </p:spPr>
        </p:sp>
      </p:grpSp>
      <p:grpSp>
        <p:nvGrpSpPr>
          <p:cNvPr name="Group 9" id="9"/>
          <p:cNvGrpSpPr/>
          <p:nvPr/>
        </p:nvGrpSpPr>
        <p:grpSpPr>
          <a:xfrm rot="0">
            <a:off x="5243512" y="5929312"/>
            <a:ext cx="9796462" cy="28575"/>
            <a:chOff x="0" y="0"/>
            <a:chExt cx="9288498" cy="27093"/>
          </a:xfrm>
        </p:grpSpPr>
        <p:sp>
          <p:nvSpPr>
            <p:cNvPr name="Freeform 10" id="10"/>
            <p:cNvSpPr/>
            <p:nvPr/>
          </p:nvSpPr>
          <p:spPr>
            <a:xfrm flipH="false" flipV="false" rot="0">
              <a:off x="13589" y="0"/>
              <a:ext cx="9261348" cy="27051"/>
            </a:xfrm>
            <a:custGeom>
              <a:avLst/>
              <a:gdLst/>
              <a:ahLst/>
              <a:cxnLst/>
              <a:rect r="r" b="b" t="t" l="l"/>
              <a:pathLst>
                <a:path h="27051" w="9261348">
                  <a:moveTo>
                    <a:pt x="0" y="0"/>
                  </a:moveTo>
                  <a:lnTo>
                    <a:pt x="9261348" y="0"/>
                  </a:lnTo>
                  <a:lnTo>
                    <a:pt x="9261348" y="27051"/>
                  </a:lnTo>
                  <a:lnTo>
                    <a:pt x="0" y="27051"/>
                  </a:lnTo>
                  <a:close/>
                </a:path>
              </a:pathLst>
            </a:custGeom>
            <a:solidFill>
              <a:srgbClr val="365010"/>
            </a:solidFill>
          </p:spPr>
        </p:sp>
      </p:grpSp>
      <p:sp>
        <p:nvSpPr>
          <p:cNvPr name="TextBox 11" id="11"/>
          <p:cNvSpPr txBox="true"/>
          <p:nvPr/>
        </p:nvSpPr>
        <p:spPr>
          <a:xfrm rot="0">
            <a:off x="3555206" y="2046053"/>
            <a:ext cx="11177587" cy="3630811"/>
          </a:xfrm>
          <a:prstGeom prst="rect">
            <a:avLst/>
          </a:prstGeom>
        </p:spPr>
        <p:txBody>
          <a:bodyPr anchor="t" rtlCol="false" tIns="0" lIns="0" bIns="0" rIns="0">
            <a:spAutoFit/>
          </a:bodyPr>
          <a:lstStyle/>
          <a:p>
            <a:pPr algn="l">
              <a:lnSpc>
                <a:spcPts val="13500"/>
              </a:lnSpc>
            </a:pPr>
            <a:r>
              <a:rPr lang="en-US" sz="11250">
                <a:solidFill>
                  <a:srgbClr val="365010"/>
                </a:solidFill>
                <a:latin typeface="Times New Roman MT"/>
                <a:ea typeface="Times New Roman MT"/>
                <a:cs typeface="Times New Roman MT"/>
                <a:sym typeface="Times New Roman MT"/>
              </a:rPr>
              <a:t>WASTE SEGREGATOR</a:t>
            </a:r>
          </a:p>
        </p:txBody>
      </p:sp>
      <p:sp>
        <p:nvSpPr>
          <p:cNvPr name="TextBox 12" id="12"/>
          <p:cNvSpPr txBox="true"/>
          <p:nvPr/>
        </p:nvSpPr>
        <p:spPr>
          <a:xfrm rot="0">
            <a:off x="8491538" y="9333238"/>
            <a:ext cx="13230225" cy="522089"/>
          </a:xfrm>
          <a:prstGeom prst="rect">
            <a:avLst/>
          </a:prstGeom>
        </p:spPr>
        <p:txBody>
          <a:bodyPr anchor="t" rtlCol="false" tIns="0" lIns="0" bIns="0" rIns="0">
            <a:spAutoFit/>
          </a:bodyPr>
          <a:lstStyle/>
          <a:p>
            <a:pPr algn="l">
              <a:lnSpc>
                <a:spcPts val="3600"/>
              </a:lnSpc>
            </a:pPr>
            <a:r>
              <a:rPr lang="en-US" sz="3000">
                <a:solidFill>
                  <a:srgbClr val="365010"/>
                </a:solidFill>
                <a:latin typeface="Times New Roman MT"/>
                <a:ea typeface="Times New Roman MT"/>
                <a:cs typeface="Times New Roman MT"/>
                <a:sym typeface="Times New Roman MT"/>
              </a:rPr>
              <a:t>TEAM NAME: ECO INNOVATORS</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A4B792"/>
        </a:solidFill>
      </p:bgPr>
    </p:bg>
    <p:spTree>
      <p:nvGrpSpPr>
        <p:cNvPr id="1" name=""/>
        <p:cNvGrpSpPr/>
        <p:nvPr/>
      </p:nvGrpSpPr>
      <p:grpSpPr>
        <a:xfrm>
          <a:off x="0" y="0"/>
          <a:ext cx="0" cy="0"/>
          <a:chOff x="0" y="0"/>
          <a:chExt cx="0" cy="0"/>
        </a:xfrm>
      </p:grpSpPr>
      <p:grpSp>
        <p:nvGrpSpPr>
          <p:cNvPr name="Group 2" id="2"/>
          <p:cNvGrpSpPr/>
          <p:nvPr/>
        </p:nvGrpSpPr>
        <p:grpSpPr>
          <a:xfrm rot="0">
            <a:off x="2843212" y="328612"/>
            <a:ext cx="12372975" cy="942975"/>
            <a:chOff x="0" y="0"/>
            <a:chExt cx="11731413" cy="894080"/>
          </a:xfrm>
        </p:grpSpPr>
        <p:sp>
          <p:nvSpPr>
            <p:cNvPr name="Freeform 3" id="3"/>
            <p:cNvSpPr/>
            <p:nvPr/>
          </p:nvSpPr>
          <p:spPr>
            <a:xfrm flipH="false" flipV="false" rot="0">
              <a:off x="0" y="0"/>
              <a:ext cx="11717909" cy="880491"/>
            </a:xfrm>
            <a:custGeom>
              <a:avLst/>
              <a:gdLst/>
              <a:ahLst/>
              <a:cxnLst/>
              <a:rect r="r" b="b" t="t" l="l"/>
              <a:pathLst>
                <a:path h="880491" w="11717909">
                  <a:moveTo>
                    <a:pt x="0" y="880491"/>
                  </a:moveTo>
                  <a:lnTo>
                    <a:pt x="0" y="13589"/>
                  </a:lnTo>
                  <a:cubicBezTo>
                    <a:pt x="0" y="6096"/>
                    <a:pt x="6096" y="0"/>
                    <a:pt x="13589" y="0"/>
                  </a:cubicBezTo>
                  <a:lnTo>
                    <a:pt x="11717909" y="0"/>
                  </a:lnTo>
                  <a:lnTo>
                    <a:pt x="11717909" y="27051"/>
                  </a:lnTo>
                  <a:lnTo>
                    <a:pt x="13589" y="27051"/>
                  </a:lnTo>
                  <a:lnTo>
                    <a:pt x="13589" y="13589"/>
                  </a:lnTo>
                  <a:lnTo>
                    <a:pt x="27051" y="13589"/>
                  </a:lnTo>
                  <a:lnTo>
                    <a:pt x="27051" y="880491"/>
                  </a:lnTo>
                  <a:close/>
                </a:path>
              </a:pathLst>
            </a:custGeom>
            <a:solidFill>
              <a:srgbClr val="365010"/>
            </a:solidFill>
          </p:spPr>
        </p:sp>
      </p:grpSp>
      <p:grpSp>
        <p:nvGrpSpPr>
          <p:cNvPr name="Group 4" id="4"/>
          <p:cNvGrpSpPr/>
          <p:nvPr/>
        </p:nvGrpSpPr>
        <p:grpSpPr>
          <a:xfrm rot="0">
            <a:off x="2957512" y="9244012"/>
            <a:ext cx="12372975" cy="28575"/>
            <a:chOff x="0" y="0"/>
            <a:chExt cx="11731413" cy="27093"/>
          </a:xfrm>
        </p:grpSpPr>
        <p:sp>
          <p:nvSpPr>
            <p:cNvPr name="Freeform 5" id="5"/>
            <p:cNvSpPr/>
            <p:nvPr/>
          </p:nvSpPr>
          <p:spPr>
            <a:xfrm flipH="false" flipV="false" rot="0">
              <a:off x="13589" y="0"/>
              <a:ext cx="11704320" cy="27051"/>
            </a:xfrm>
            <a:custGeom>
              <a:avLst/>
              <a:gdLst/>
              <a:ahLst/>
              <a:cxnLst/>
              <a:rect r="r" b="b" t="t" l="l"/>
              <a:pathLst>
                <a:path h="27051" w="11704320">
                  <a:moveTo>
                    <a:pt x="0" y="0"/>
                  </a:moveTo>
                  <a:lnTo>
                    <a:pt x="11704320" y="0"/>
                  </a:lnTo>
                  <a:lnTo>
                    <a:pt x="11704320" y="27051"/>
                  </a:lnTo>
                  <a:lnTo>
                    <a:pt x="0" y="27051"/>
                  </a:lnTo>
                  <a:close/>
                </a:path>
              </a:pathLst>
            </a:custGeom>
            <a:solidFill>
              <a:srgbClr val="365010"/>
            </a:solidFill>
          </p:spPr>
        </p:sp>
      </p:grpSp>
      <p:graphicFrame>
        <p:nvGraphicFramePr>
          <p:cNvPr name="Table 6" id="6"/>
          <p:cNvGraphicFramePr>
            <a:graphicFrameLocks noGrp="true"/>
          </p:cNvGraphicFramePr>
          <p:nvPr/>
        </p:nvGraphicFramePr>
        <p:xfrm>
          <a:off x="3063409" y="1598680"/>
          <a:ext cx="11639550" cy="7525410"/>
        </p:xfrm>
        <a:graphic>
          <a:graphicData uri="http://schemas.openxmlformats.org/drawingml/2006/table">
            <a:tbl>
              <a:tblPr/>
              <a:tblGrid>
                <a:gridCol w="4474304"/>
                <a:gridCol w="7165246"/>
              </a:tblGrid>
              <a:tr h="1339359">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Project title:</a:t>
                      </a:r>
                      <a:endParaRPr lang="en-US" sz="1100"/>
                    </a:p>
                  </a:txBody>
                  <a:tcPr marL="91440" marR="91440" marT="91440" marB="91440" anchor="ctr">
                    <a:lnL cmpd="sng" algn="ctr" cap="flat" w="40184">
                      <a:solidFill>
                        <a:srgbClr val="000000"/>
                      </a:solidFill>
                      <a:prstDash val="solid"/>
                      <a:round/>
                      <a:headEnd type="none" w="med" len="med"/>
                      <a:tailEnd type="none" w="med" len="med"/>
                    </a:lnL>
                    <a:lnR cmpd="sng" algn="ctr" cap="flat" w="17859">
                      <a:solidFill>
                        <a:srgbClr val="000000"/>
                      </a:solidFill>
                      <a:prstDash val="solid"/>
                      <a:round/>
                      <a:headEnd type="none" w="med" len="med"/>
                      <a:tailEnd type="none" w="med" len="med"/>
                    </a:lnR>
                    <a:lnT cmpd="sng" algn="ctr" cap="flat" w="40184">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Waste Segregators</a:t>
                      </a:r>
                      <a:endParaRPr lang="en-US" sz="1100"/>
                    </a:p>
                  </a:txBody>
                  <a:tcPr marL="91440" marR="91440" marT="91440" marB="91440" anchor="ctr">
                    <a:lnL cmpd="sng" algn="ctr" cap="flat" w="17859">
                      <a:solidFill>
                        <a:srgbClr val="000000"/>
                      </a:solidFill>
                      <a:prstDash val="solid"/>
                      <a:round/>
                      <a:headEnd type="none" w="med" len="med"/>
                      <a:tailEnd type="none" w="med" len="med"/>
                    </a:lnL>
                    <a:lnR cmpd="sng" algn="ctr" cap="flat" w="40184">
                      <a:solidFill>
                        <a:srgbClr val="000000"/>
                      </a:solidFill>
                      <a:prstDash val="solid"/>
                      <a:round/>
                      <a:headEnd type="none" w="med" len="med"/>
                      <a:tailEnd type="none" w="med" len="med"/>
                    </a:lnR>
                    <a:lnT cmpd="sng" algn="ctr" cap="flat" w="40184">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r>
              <a:tr h="1226014">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PS code:</a:t>
                      </a:r>
                      <a:endParaRPr lang="en-US" sz="1100"/>
                    </a:p>
                  </a:txBody>
                  <a:tcPr marL="91440" marR="91440" marT="91440" marB="91440" anchor="ctr">
                    <a:lnL cmpd="sng" algn="ctr" cap="flat" w="40184">
                      <a:solidFill>
                        <a:srgbClr val="000000"/>
                      </a:solidFill>
                      <a:prstDash val="solid"/>
                      <a:round/>
                      <a:headEnd type="none" w="med" len="med"/>
                      <a:tailEnd type="none" w="med" len="med"/>
                    </a:lnL>
                    <a:lnR cmpd="sng" algn="ctr" cap="flat" w="17859">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SIH25111</a:t>
                      </a:r>
                      <a:endParaRPr lang="en-US" sz="1100"/>
                    </a:p>
                  </a:txBody>
                  <a:tcPr marL="91440" marR="91440" marT="91440" marB="91440" anchor="ctr">
                    <a:lnL cmpd="sng" algn="ctr" cap="flat" w="17859">
                      <a:solidFill>
                        <a:srgbClr val="000000"/>
                      </a:solidFill>
                      <a:prstDash val="solid"/>
                      <a:round/>
                      <a:headEnd type="none" w="med" len="med"/>
                      <a:tailEnd type="none" w="med" len="med"/>
                    </a:lnL>
                    <a:lnR cmpd="sng" algn="ctr" cap="flat" w="40184">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r>
              <a:tr h="2221962">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Problem Statement Title:</a:t>
                      </a:r>
                      <a:endParaRPr lang="en-US" sz="1100"/>
                    </a:p>
                  </a:txBody>
                  <a:tcPr marL="91440" marR="91440" marT="91440" marB="91440" anchor="ctr">
                    <a:lnL cmpd="sng" algn="ctr" cap="flat" w="40184">
                      <a:solidFill>
                        <a:srgbClr val="000000"/>
                      </a:solidFill>
                      <a:prstDash val="solid"/>
                      <a:round/>
                      <a:headEnd type="none" w="med" len="med"/>
                      <a:tailEnd type="none" w="med" len="med"/>
                    </a:lnL>
                    <a:lnR cmpd="sng" algn="ctr" cap="flat" w="17859">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Student </a:t>
                      </a:r>
                      <a:r>
                        <a:rPr lang="en-US" sz="3899">
                          <a:solidFill>
                            <a:srgbClr val="365010"/>
                          </a:solidFill>
                          <a:latin typeface="Times New Roman MT"/>
                          <a:ea typeface="Times New Roman MT"/>
                          <a:cs typeface="Times New Roman MT"/>
                          <a:sym typeface="Times New Roman MT"/>
                        </a:rPr>
                        <a:t>Innovation: Swadeshi for Atmanirbhar Bharat - Clean &amp; Green Technology</a:t>
                      </a:r>
                      <a:endParaRPr lang="en-US" sz="1100"/>
                    </a:p>
                  </a:txBody>
                  <a:tcPr marL="91440" marR="91440" marT="91440" marB="91440" anchor="ctr">
                    <a:lnL cmpd="sng" algn="ctr" cap="flat" w="17859">
                      <a:solidFill>
                        <a:srgbClr val="000000"/>
                      </a:solidFill>
                      <a:prstDash val="solid"/>
                      <a:round/>
                      <a:headEnd type="none" w="med" len="med"/>
                      <a:tailEnd type="none" w="med" len="med"/>
                    </a:lnL>
                    <a:lnR cmpd="sng" algn="ctr" cap="flat" w="40184">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r>
              <a:tr h="1630504">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Theme:</a:t>
                      </a:r>
                      <a:endParaRPr lang="en-US" sz="1100"/>
                    </a:p>
                  </a:txBody>
                  <a:tcPr marL="91440" marR="91440" marT="91440" marB="91440" anchor="ctr">
                    <a:lnL cmpd="sng" algn="ctr" cap="flat" w="40184">
                      <a:solidFill>
                        <a:srgbClr val="000000"/>
                      </a:solidFill>
                      <a:prstDash val="solid"/>
                      <a:round/>
                      <a:headEnd type="none" w="med" len="med"/>
                      <a:tailEnd type="none" w="med" len="med"/>
                    </a:lnL>
                    <a:lnR cmpd="sng" algn="ctr" cap="flat" w="17859">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Cl</a:t>
                      </a:r>
                      <a:r>
                        <a:rPr lang="en-US" sz="3899">
                          <a:solidFill>
                            <a:srgbClr val="365010"/>
                          </a:solidFill>
                          <a:latin typeface="Times New Roman MT"/>
                          <a:ea typeface="Times New Roman MT"/>
                          <a:cs typeface="Times New Roman MT"/>
                          <a:sym typeface="Times New Roman MT"/>
                        </a:rPr>
                        <a:t>ean &amp; Green Technology</a:t>
                      </a:r>
                      <a:endParaRPr lang="en-US" sz="1100"/>
                    </a:p>
                  </a:txBody>
                  <a:tcPr marL="91440" marR="91440" marT="91440" marB="91440" anchor="ctr">
                    <a:lnL cmpd="sng" algn="ctr" cap="flat" w="17859">
                      <a:solidFill>
                        <a:srgbClr val="000000"/>
                      </a:solidFill>
                      <a:prstDash val="solid"/>
                      <a:round/>
                      <a:headEnd type="none" w="med" len="med"/>
                      <a:tailEnd type="none" w="med" len="med"/>
                    </a:lnL>
                    <a:lnR cmpd="sng" algn="ctr" cap="flat" w="40184">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r>
              <a:tr h="1107570">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Category:</a:t>
                      </a:r>
                      <a:endParaRPr lang="en-US" sz="1100"/>
                    </a:p>
                  </a:txBody>
                  <a:tcPr marL="91440" marR="91440" marT="91440" marB="91440" anchor="ctr">
                    <a:lnL cmpd="sng" algn="ctr" cap="flat" w="40184">
                      <a:solidFill>
                        <a:srgbClr val="000000"/>
                      </a:solidFill>
                      <a:prstDash val="solid"/>
                      <a:round/>
                      <a:headEnd type="none" w="med" len="med"/>
                      <a:tailEnd type="none" w="med" len="med"/>
                    </a:lnL>
                    <a:lnR cmpd="sng" algn="ctr" cap="flat" w="17859">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40184">
                      <a:solidFill>
                        <a:srgbClr val="000000"/>
                      </a:solidFill>
                      <a:prstDash val="solid"/>
                      <a:round/>
                      <a:headEnd type="none" w="med" len="med"/>
                      <a:tailEnd type="none" w="med" len="med"/>
                    </a:lnB>
                  </a:tcPr>
                </a:tc>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Hardware</a:t>
                      </a:r>
                      <a:endParaRPr lang="en-US" sz="1100"/>
                    </a:p>
                  </a:txBody>
                  <a:tcPr marL="91440" marR="91440" marT="91440" marB="91440" anchor="ctr">
                    <a:lnL cmpd="sng" algn="ctr" cap="flat" w="17859">
                      <a:solidFill>
                        <a:srgbClr val="000000"/>
                      </a:solidFill>
                      <a:prstDash val="solid"/>
                      <a:round/>
                      <a:headEnd type="none" w="med" len="med"/>
                      <a:tailEnd type="none" w="med" len="med"/>
                    </a:lnL>
                    <a:lnR cmpd="sng" algn="ctr" cap="flat" w="40184">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40184">
                      <a:solidFill>
                        <a:srgbClr val="000000"/>
                      </a:solidFill>
                      <a:prstDash val="solid"/>
                      <a:round/>
                      <a:headEnd type="none" w="med" len="med"/>
                      <a:tailEnd type="none" w="med" len="med"/>
                    </a:lnB>
                  </a:tcPr>
                </a:tc>
              </a:tr>
            </a:tbl>
          </a:graphicData>
        </a:graphic>
      </p:graphicFrame>
      <p:graphicFrame>
        <p:nvGraphicFramePr>
          <p:cNvPr name="Table 7" id="7"/>
          <p:cNvGraphicFramePr>
            <a:graphicFrameLocks noGrp="true"/>
          </p:cNvGraphicFramePr>
          <p:nvPr/>
        </p:nvGraphicFramePr>
        <p:xfrm>
          <a:off x="3543300" y="926307"/>
          <a:ext cx="9144000" cy="552450"/>
        </p:xfrm>
        <a:graphic>
          <a:graphicData uri="http://schemas.openxmlformats.org/drawingml/2006/table">
            <a:tbl>
              <a:tblPr/>
              <a:tblGrid>
                <a:gridCol w="9144000"/>
              </a:tblGrid>
              <a:tr h="552450">
                <a:tc>
                  <a:txBody>
                    <a:bodyPr anchor="t" rtlCol="false"/>
                    <a:lstStyle/>
                    <a:p>
                      <a:pPr algn="l">
                        <a:lnSpc>
                          <a:spcPts val="3240"/>
                        </a:lnSpc>
                        <a:defRPr/>
                      </a:pPr>
                      <a:r>
                        <a:rPr lang="en-US" sz="2700" b="true">
                          <a:solidFill>
                            <a:srgbClr val="FFFFFF"/>
                          </a:solidFill>
                          <a:latin typeface="Arial Bold"/>
                          <a:ea typeface="Arial Bold"/>
                          <a:cs typeface="Arial Bold"/>
                          <a:sym typeface="Arial Bold"/>
                        </a:rPr>
                        <a:t>EVENT  DESCRIPTION:</a:t>
                      </a:r>
                      <a:endParaRPr lang="en-US" sz="1100"/>
                    </a:p>
                  </a:txBody>
                  <a:tcPr marL="91440" marR="91440" marT="91440" marB="91440" anchor="ctr">
                    <a:lnL cmpd="sng" algn="ctr" cap="flat" w="6697">
                      <a:solidFill>
                        <a:srgbClr val="000000"/>
                      </a:solidFill>
                      <a:prstDash val="solid"/>
                      <a:round/>
                      <a:headEnd type="none" w="med" len="med"/>
                      <a:tailEnd type="none" w="med" len="med"/>
                    </a:lnL>
                    <a:lnR cmpd="sng" algn="ctr" cap="flat" w="6697">
                      <a:solidFill>
                        <a:srgbClr val="000000"/>
                      </a:solidFill>
                      <a:prstDash val="solid"/>
                      <a:round/>
                      <a:headEnd type="none" w="med" len="med"/>
                      <a:tailEnd type="none" w="med" len="med"/>
                    </a:lnR>
                    <a:lnT cmpd="sng" algn="ctr" cap="flat" w="6697">
                      <a:solidFill>
                        <a:srgbClr val="000000"/>
                      </a:solidFill>
                      <a:prstDash val="solid"/>
                      <a:round/>
                      <a:headEnd type="none" w="med" len="med"/>
                      <a:tailEnd type="none" w="med" len="med"/>
                    </a:lnT>
                    <a:lnB cmpd="sng" algn="ctr" cap="flat" w="6697">
                      <a:solidFill>
                        <a:srgbClr val="000000"/>
                      </a:solidFill>
                      <a:prstDash val="solid"/>
                      <a:round/>
                      <a:headEnd type="none" w="med" len="med"/>
                      <a:tailEnd type="none" w="med" len="med"/>
                    </a:lnB>
                    <a:solidFill>
                      <a:srgbClr val="365010"/>
                    </a:solidFill>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p:cSld>
    <p:bg>
      <p:bgPr>
        <a:solidFill>
          <a:srgbClr val="A4B792"/>
        </a:solidFill>
      </p:bgPr>
    </p:bg>
    <p:spTree>
      <p:nvGrpSpPr>
        <p:cNvPr id="1" name=""/>
        <p:cNvGrpSpPr/>
        <p:nvPr/>
      </p:nvGrpSpPr>
      <p:grpSpPr>
        <a:xfrm>
          <a:off x="0" y="0"/>
          <a:ext cx="0" cy="0"/>
          <a:chOff x="0" y="0"/>
          <a:chExt cx="0" cy="0"/>
        </a:xfrm>
      </p:grpSpPr>
      <p:grpSp>
        <p:nvGrpSpPr>
          <p:cNvPr name="Group 2" id="2"/>
          <p:cNvGrpSpPr/>
          <p:nvPr/>
        </p:nvGrpSpPr>
        <p:grpSpPr>
          <a:xfrm rot="0">
            <a:off x="2843212" y="328612"/>
            <a:ext cx="12372975" cy="942975"/>
            <a:chOff x="0" y="0"/>
            <a:chExt cx="11731413" cy="894080"/>
          </a:xfrm>
        </p:grpSpPr>
        <p:sp>
          <p:nvSpPr>
            <p:cNvPr name="Freeform 3" id="3"/>
            <p:cNvSpPr/>
            <p:nvPr/>
          </p:nvSpPr>
          <p:spPr>
            <a:xfrm flipH="false" flipV="false" rot="0">
              <a:off x="0" y="0"/>
              <a:ext cx="11717909" cy="880491"/>
            </a:xfrm>
            <a:custGeom>
              <a:avLst/>
              <a:gdLst/>
              <a:ahLst/>
              <a:cxnLst/>
              <a:rect r="r" b="b" t="t" l="l"/>
              <a:pathLst>
                <a:path h="880491" w="11717909">
                  <a:moveTo>
                    <a:pt x="0" y="880491"/>
                  </a:moveTo>
                  <a:lnTo>
                    <a:pt x="0" y="13589"/>
                  </a:lnTo>
                  <a:cubicBezTo>
                    <a:pt x="0" y="6096"/>
                    <a:pt x="6096" y="0"/>
                    <a:pt x="13589" y="0"/>
                  </a:cubicBezTo>
                  <a:lnTo>
                    <a:pt x="11717909" y="0"/>
                  </a:lnTo>
                  <a:lnTo>
                    <a:pt x="11717909" y="27051"/>
                  </a:lnTo>
                  <a:lnTo>
                    <a:pt x="13589" y="27051"/>
                  </a:lnTo>
                  <a:lnTo>
                    <a:pt x="13589" y="13589"/>
                  </a:lnTo>
                  <a:lnTo>
                    <a:pt x="27051" y="13589"/>
                  </a:lnTo>
                  <a:lnTo>
                    <a:pt x="27051" y="880491"/>
                  </a:lnTo>
                  <a:close/>
                </a:path>
              </a:pathLst>
            </a:custGeom>
            <a:solidFill>
              <a:srgbClr val="365010"/>
            </a:solidFill>
          </p:spPr>
        </p:sp>
      </p:grpSp>
      <p:grpSp>
        <p:nvGrpSpPr>
          <p:cNvPr name="Group 4" id="4"/>
          <p:cNvGrpSpPr/>
          <p:nvPr/>
        </p:nvGrpSpPr>
        <p:grpSpPr>
          <a:xfrm rot="0">
            <a:off x="2957512" y="9244012"/>
            <a:ext cx="12372975" cy="28575"/>
            <a:chOff x="0" y="0"/>
            <a:chExt cx="11731413" cy="27093"/>
          </a:xfrm>
        </p:grpSpPr>
        <p:sp>
          <p:nvSpPr>
            <p:cNvPr name="Freeform 5" id="5"/>
            <p:cNvSpPr/>
            <p:nvPr/>
          </p:nvSpPr>
          <p:spPr>
            <a:xfrm flipH="false" flipV="false" rot="0">
              <a:off x="13589" y="0"/>
              <a:ext cx="11704320" cy="27051"/>
            </a:xfrm>
            <a:custGeom>
              <a:avLst/>
              <a:gdLst/>
              <a:ahLst/>
              <a:cxnLst/>
              <a:rect r="r" b="b" t="t" l="l"/>
              <a:pathLst>
                <a:path h="27051" w="11704320">
                  <a:moveTo>
                    <a:pt x="0" y="0"/>
                  </a:moveTo>
                  <a:lnTo>
                    <a:pt x="11704320" y="0"/>
                  </a:lnTo>
                  <a:lnTo>
                    <a:pt x="11704320" y="27051"/>
                  </a:lnTo>
                  <a:lnTo>
                    <a:pt x="0" y="27051"/>
                  </a:lnTo>
                  <a:close/>
                </a:path>
              </a:pathLst>
            </a:custGeom>
            <a:solidFill>
              <a:srgbClr val="365010"/>
            </a:solidFill>
          </p:spPr>
        </p:sp>
      </p:grpSp>
      <p:graphicFrame>
        <p:nvGraphicFramePr>
          <p:cNvPr name="Table 6" id="6"/>
          <p:cNvGraphicFramePr>
            <a:graphicFrameLocks noGrp="true"/>
          </p:cNvGraphicFramePr>
          <p:nvPr/>
        </p:nvGraphicFramePr>
        <p:xfrm>
          <a:off x="3543300" y="1919856"/>
          <a:ext cx="11639550" cy="6675888"/>
        </p:xfrm>
        <a:graphic>
          <a:graphicData uri="http://schemas.openxmlformats.org/drawingml/2006/table">
            <a:tbl>
              <a:tblPr/>
              <a:tblGrid>
                <a:gridCol w="3715278"/>
                <a:gridCol w="7924272"/>
              </a:tblGrid>
              <a:tr h="1049335">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Team name</a:t>
                      </a:r>
                      <a:endParaRPr lang="en-US" sz="1100"/>
                    </a:p>
                  </a:txBody>
                  <a:tcPr marL="91440" marR="91440" marT="91440" marB="91440" anchor="ctr">
                    <a:lnL cmpd="sng" algn="ctr" cap="flat" w="40184">
                      <a:solidFill>
                        <a:srgbClr val="000000"/>
                      </a:solidFill>
                      <a:prstDash val="solid"/>
                      <a:round/>
                      <a:headEnd type="none" w="med" len="med"/>
                      <a:tailEnd type="none" w="med" len="med"/>
                    </a:lnL>
                    <a:lnR cmpd="sng" algn="ctr" cap="flat" w="17859">
                      <a:solidFill>
                        <a:srgbClr val="000000"/>
                      </a:solidFill>
                      <a:prstDash val="solid"/>
                      <a:round/>
                      <a:headEnd type="none" w="med" len="med"/>
                      <a:tailEnd type="none" w="med" len="med"/>
                    </a:lnR>
                    <a:lnT cmpd="sng" algn="ctr" cap="flat" w="40184">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ECO INNOVATORS</a:t>
                      </a:r>
                      <a:endParaRPr lang="en-US" sz="1100"/>
                    </a:p>
                  </a:txBody>
                  <a:tcPr marL="91440" marR="91440" marT="91440" marB="91440" anchor="ctr">
                    <a:lnL cmpd="sng" algn="ctr" cap="flat" w="17859">
                      <a:solidFill>
                        <a:srgbClr val="000000"/>
                      </a:solidFill>
                      <a:prstDash val="solid"/>
                      <a:round/>
                      <a:headEnd type="none" w="med" len="med"/>
                      <a:tailEnd type="none" w="med" len="med"/>
                    </a:lnL>
                    <a:lnR cmpd="sng" algn="ctr" cap="flat" w="40184">
                      <a:solidFill>
                        <a:srgbClr val="000000"/>
                      </a:solidFill>
                      <a:prstDash val="solid"/>
                      <a:round/>
                      <a:headEnd type="none" w="med" len="med"/>
                      <a:tailEnd type="none" w="med" len="med"/>
                    </a:lnR>
                    <a:lnT cmpd="sng" algn="ctr" cap="flat" w="40184">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r>
              <a:tr h="3995545">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Team Members</a:t>
                      </a:r>
                      <a:endParaRPr lang="en-US" sz="1100"/>
                    </a:p>
                  </a:txBody>
                  <a:tcPr marL="91440" marR="91440" marT="91440" marB="91440" anchor="ctr">
                    <a:lnL cmpd="sng" algn="ctr" cap="flat" w="40184">
                      <a:solidFill>
                        <a:srgbClr val="000000"/>
                      </a:solidFill>
                      <a:prstDash val="solid"/>
                      <a:round/>
                      <a:headEnd type="none" w="med" len="med"/>
                      <a:tailEnd type="none" w="med" len="med"/>
                    </a:lnL>
                    <a:lnR cmpd="sng" algn="ctr" cap="flat" w="17859">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c>
                  <a:txBody>
                    <a:bodyPr anchor="t" rtlCol="false"/>
                    <a:lstStyle/>
                    <a:p>
                      <a:pPr algn="l">
                        <a:lnSpc>
                          <a:spcPts val="4680"/>
                        </a:lnSpc>
                        <a:defRPr/>
                      </a:pPr>
                      <a:r>
                        <a:rPr lang="en-US" sz="3900">
                          <a:solidFill>
                            <a:srgbClr val="365010"/>
                          </a:solidFill>
                          <a:latin typeface="Times New Roman MT"/>
                          <a:ea typeface="Times New Roman MT"/>
                          <a:cs typeface="Times New Roman MT"/>
                          <a:sym typeface="Times New Roman MT"/>
                        </a:rPr>
                        <a:t>MONISHWARAN M</a:t>
                      </a:r>
                      <a:endParaRPr lang="en-US" sz="1100"/>
                    </a:p>
                    <a:p>
                      <a:pPr algn="l">
                        <a:lnSpc>
                          <a:spcPts val="4680"/>
                        </a:lnSpc>
                      </a:pPr>
                      <a:r>
                        <a:rPr lang="en-US" sz="3900">
                          <a:solidFill>
                            <a:srgbClr val="365010"/>
                          </a:solidFill>
                          <a:latin typeface="Times New Roman MT"/>
                          <a:ea typeface="Times New Roman MT"/>
                          <a:cs typeface="Times New Roman MT"/>
                          <a:sym typeface="Times New Roman MT"/>
                        </a:rPr>
                        <a:t>SAKTHI SRI K</a:t>
                      </a:r>
                    </a:p>
                    <a:p>
                      <a:pPr algn="l">
                        <a:lnSpc>
                          <a:spcPts val="4680"/>
                        </a:lnSpc>
                      </a:pPr>
                      <a:r>
                        <a:rPr lang="en-US" sz="3900">
                          <a:solidFill>
                            <a:srgbClr val="365010"/>
                          </a:solidFill>
                          <a:latin typeface="Times New Roman MT"/>
                          <a:ea typeface="Times New Roman MT"/>
                          <a:cs typeface="Times New Roman MT"/>
                          <a:sym typeface="Times New Roman MT"/>
                        </a:rPr>
                        <a:t>BANU SRI VARTHANI V</a:t>
                      </a:r>
                    </a:p>
                    <a:p>
                      <a:pPr algn="l">
                        <a:lnSpc>
                          <a:spcPts val="4680"/>
                        </a:lnSpc>
                      </a:pPr>
                      <a:r>
                        <a:rPr lang="en-US" sz="3900">
                          <a:solidFill>
                            <a:srgbClr val="365010"/>
                          </a:solidFill>
                          <a:latin typeface="Times New Roman MT"/>
                          <a:ea typeface="Times New Roman MT"/>
                          <a:cs typeface="Times New Roman MT"/>
                          <a:sym typeface="Times New Roman MT"/>
                        </a:rPr>
                        <a:t>SIVA S</a:t>
                      </a:r>
                    </a:p>
                    <a:p>
                      <a:pPr algn="l">
                        <a:lnSpc>
                          <a:spcPts val="4680"/>
                        </a:lnSpc>
                      </a:pPr>
                      <a:r>
                        <a:rPr lang="en-US" sz="3900">
                          <a:solidFill>
                            <a:srgbClr val="365010"/>
                          </a:solidFill>
                          <a:latin typeface="Times New Roman MT"/>
                          <a:ea typeface="Times New Roman MT"/>
                          <a:cs typeface="Times New Roman MT"/>
                          <a:sym typeface="Times New Roman MT"/>
                        </a:rPr>
                        <a:t>GUGHANATHAN S</a:t>
                      </a:r>
                    </a:p>
                    <a:p>
                      <a:pPr algn="l">
                        <a:lnSpc>
                          <a:spcPts val="4680"/>
                        </a:lnSpc>
                      </a:pPr>
                      <a:r>
                        <a:rPr lang="en-US" sz="3900">
                          <a:solidFill>
                            <a:srgbClr val="365010"/>
                          </a:solidFill>
                          <a:latin typeface="Times New Roman MT"/>
                          <a:ea typeface="Times New Roman MT"/>
                          <a:cs typeface="Times New Roman MT"/>
                          <a:sym typeface="Times New Roman MT"/>
                        </a:rPr>
                        <a:t>BARANIDHARAN D</a:t>
                      </a:r>
                    </a:p>
                  </a:txBody>
                  <a:tcPr marL="91440" marR="91440" marT="91440" marB="91440" anchor="ctr">
                    <a:lnL cmpd="sng" algn="ctr" cap="flat" w="17859">
                      <a:solidFill>
                        <a:srgbClr val="000000"/>
                      </a:solidFill>
                      <a:prstDash val="solid"/>
                      <a:round/>
                      <a:headEnd type="none" w="med" len="med"/>
                      <a:tailEnd type="none" w="med" len="med"/>
                    </a:lnL>
                    <a:lnR cmpd="sng" algn="ctr" cap="flat" w="40184">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r>
              <a:tr h="1631007">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Year/Branch</a:t>
                      </a:r>
                      <a:endParaRPr lang="en-US" sz="1100"/>
                    </a:p>
                  </a:txBody>
                  <a:tcPr marL="91440" marR="91440" marT="91440" marB="91440" anchor="ctr">
                    <a:lnL cmpd="sng" algn="ctr" cap="flat" w="40184">
                      <a:solidFill>
                        <a:srgbClr val="000000"/>
                      </a:solidFill>
                      <a:prstDash val="solid"/>
                      <a:round/>
                      <a:headEnd type="none" w="med" len="med"/>
                      <a:tailEnd type="none" w="med" len="med"/>
                    </a:lnL>
                    <a:lnR cmpd="sng" algn="ctr" cap="flat" w="17859">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c>
                  <a:txBody>
                    <a:bodyPr anchor="t" rtlCol="false"/>
                    <a:lstStyle/>
                    <a:p>
                      <a:pPr algn="l">
                        <a:lnSpc>
                          <a:spcPts val="4679"/>
                        </a:lnSpc>
                        <a:defRPr/>
                      </a:pPr>
                      <a:r>
                        <a:rPr lang="en-US" sz="3899">
                          <a:solidFill>
                            <a:srgbClr val="365010"/>
                          </a:solidFill>
                          <a:latin typeface="Times New Roman MT"/>
                          <a:ea typeface="Times New Roman MT"/>
                          <a:cs typeface="Times New Roman MT"/>
                          <a:sym typeface="Times New Roman MT"/>
                        </a:rPr>
                        <a:t>III/ CIVIL ENGINEERING</a:t>
                      </a:r>
                      <a:endParaRPr lang="en-US" sz="1100"/>
                    </a:p>
                  </a:txBody>
                  <a:tcPr marL="91440" marR="91440" marT="91440" marB="91440" anchor="ctr">
                    <a:lnL cmpd="sng" algn="ctr" cap="flat" w="17859">
                      <a:solidFill>
                        <a:srgbClr val="000000"/>
                      </a:solidFill>
                      <a:prstDash val="solid"/>
                      <a:round/>
                      <a:headEnd type="none" w="med" len="med"/>
                      <a:tailEnd type="none" w="med" len="med"/>
                    </a:lnL>
                    <a:lnR cmpd="sng" algn="ctr" cap="flat" w="40184">
                      <a:solidFill>
                        <a:srgbClr val="000000"/>
                      </a:solidFill>
                      <a:prstDash val="solid"/>
                      <a:round/>
                      <a:headEnd type="none" w="med" len="med"/>
                      <a:tailEnd type="none" w="med" len="med"/>
                    </a:lnR>
                    <a:lnT cmpd="sng" algn="ctr" cap="flat" w="17859">
                      <a:solidFill>
                        <a:srgbClr val="000000"/>
                      </a:solidFill>
                      <a:prstDash val="solid"/>
                      <a:round/>
                      <a:headEnd type="none" w="med" len="med"/>
                      <a:tailEnd type="none" w="med" len="med"/>
                    </a:lnT>
                    <a:lnB cmpd="sng" algn="ctr" cap="flat" w="17859">
                      <a:solidFill>
                        <a:srgbClr val="000000"/>
                      </a:solidFill>
                      <a:prstDash val="solid"/>
                      <a:round/>
                      <a:headEnd type="none" w="med" len="med"/>
                      <a:tailEnd type="none" w="med" len="med"/>
                    </a:lnB>
                  </a:tcPr>
                </a:tc>
              </a:tr>
            </a:tbl>
          </a:graphicData>
        </a:graphic>
      </p:graphicFrame>
      <p:graphicFrame>
        <p:nvGraphicFramePr>
          <p:cNvPr name="Table 7" id="7"/>
          <p:cNvGraphicFramePr>
            <a:graphicFrameLocks noGrp="true"/>
          </p:cNvGraphicFramePr>
          <p:nvPr/>
        </p:nvGraphicFramePr>
        <p:xfrm>
          <a:off x="3543300" y="926307"/>
          <a:ext cx="9144000" cy="823764"/>
        </p:xfrm>
        <a:graphic>
          <a:graphicData uri="http://schemas.openxmlformats.org/drawingml/2006/table">
            <a:tbl>
              <a:tblPr/>
              <a:tblGrid>
                <a:gridCol w="9144000"/>
              </a:tblGrid>
              <a:tr h="823764">
                <a:tc>
                  <a:txBody>
                    <a:bodyPr anchor="t" rtlCol="false"/>
                    <a:lstStyle/>
                    <a:p>
                      <a:pPr algn="l">
                        <a:lnSpc>
                          <a:spcPts val="3240"/>
                        </a:lnSpc>
                        <a:defRPr/>
                      </a:pPr>
                      <a:r>
                        <a:rPr lang="en-US" sz="2700" b="true">
                          <a:solidFill>
                            <a:srgbClr val="FFFFFF"/>
                          </a:solidFill>
                          <a:latin typeface="Arial Bold"/>
                          <a:ea typeface="Arial Bold"/>
                          <a:cs typeface="Arial Bold"/>
                          <a:sym typeface="Arial Bold"/>
                        </a:rPr>
                        <a:t>TEAM</a:t>
                      </a:r>
                      <a:r>
                        <a:rPr lang="en-US" sz="2700" b="true">
                          <a:solidFill>
                            <a:srgbClr val="FFFFFF"/>
                          </a:solidFill>
                          <a:latin typeface="Arial Bold"/>
                          <a:ea typeface="Arial Bold"/>
                          <a:cs typeface="Arial Bold"/>
                          <a:sym typeface="Arial Bold"/>
                        </a:rPr>
                        <a:t> DETAILS:</a:t>
                      </a:r>
                      <a:endParaRPr lang="en-US" sz="1100"/>
                    </a:p>
                  </a:txBody>
                  <a:tcPr marL="91440" marR="91440" marT="91440" marB="91440" anchor="ctr">
                    <a:lnL cmpd="sng" algn="ctr" cap="flat" w="6697">
                      <a:solidFill>
                        <a:srgbClr val="000000"/>
                      </a:solidFill>
                      <a:prstDash val="solid"/>
                      <a:round/>
                      <a:headEnd type="none" w="med" len="med"/>
                      <a:tailEnd type="none" w="med" len="med"/>
                    </a:lnL>
                    <a:lnR cmpd="sng" algn="ctr" cap="flat" w="6697">
                      <a:solidFill>
                        <a:srgbClr val="000000"/>
                      </a:solidFill>
                      <a:prstDash val="solid"/>
                      <a:round/>
                      <a:headEnd type="none" w="med" len="med"/>
                      <a:tailEnd type="none" w="med" len="med"/>
                    </a:lnR>
                    <a:lnT cmpd="sng" algn="ctr" cap="flat" w="6697">
                      <a:solidFill>
                        <a:srgbClr val="000000"/>
                      </a:solidFill>
                      <a:prstDash val="solid"/>
                      <a:round/>
                      <a:headEnd type="none" w="med" len="med"/>
                      <a:tailEnd type="none" w="med" len="med"/>
                    </a:lnT>
                    <a:lnB cmpd="sng" algn="ctr" cap="flat" w="6697">
                      <a:solidFill>
                        <a:srgbClr val="000000"/>
                      </a:solidFill>
                      <a:prstDash val="solid"/>
                      <a:round/>
                      <a:headEnd type="none" w="med" len="med"/>
                      <a:tailEnd type="none" w="med" len="med"/>
                    </a:lnB>
                    <a:solidFill>
                      <a:srgbClr val="365010"/>
                    </a:solidFill>
                  </a:tcPr>
                </a:tc>
              </a:tr>
            </a:tbl>
          </a:graphicData>
        </a:graphic>
      </p:graphicFrame>
    </p:spTree>
  </p:cSld>
  <p:clrMapOvr>
    <a:masterClrMapping/>
  </p:clrMapOvr>
  <p:transition spd="fast">
    <p:fade/>
  </p:transition>
</p:sld>
</file>

<file path=ppt/slides/slide4.xml><?xml version="1.0" encoding="utf-8"?>
<p:sld xmlns:p="http://schemas.openxmlformats.org/presentationml/2006/main" xmlns:a="http://schemas.openxmlformats.org/drawingml/2006/main">
  <p:cSld>
    <p:bg>
      <p:bgPr>
        <a:solidFill>
          <a:srgbClr val="A4B792"/>
        </a:solidFill>
      </p:bgPr>
    </p:bg>
    <p:spTree>
      <p:nvGrpSpPr>
        <p:cNvPr id="1" name=""/>
        <p:cNvGrpSpPr/>
        <p:nvPr/>
      </p:nvGrpSpPr>
      <p:grpSpPr>
        <a:xfrm>
          <a:off x="0" y="0"/>
          <a:ext cx="0" cy="0"/>
          <a:chOff x="0" y="0"/>
          <a:chExt cx="0" cy="0"/>
        </a:xfrm>
      </p:grpSpPr>
      <p:grpSp>
        <p:nvGrpSpPr>
          <p:cNvPr name="Group 2" id="2"/>
          <p:cNvGrpSpPr/>
          <p:nvPr/>
        </p:nvGrpSpPr>
        <p:grpSpPr>
          <a:xfrm rot="0">
            <a:off x="2843212" y="328612"/>
            <a:ext cx="12372975" cy="942975"/>
            <a:chOff x="0" y="0"/>
            <a:chExt cx="11731413" cy="894080"/>
          </a:xfrm>
        </p:grpSpPr>
        <p:sp>
          <p:nvSpPr>
            <p:cNvPr name="Freeform 3" id="3"/>
            <p:cNvSpPr/>
            <p:nvPr/>
          </p:nvSpPr>
          <p:spPr>
            <a:xfrm flipH="false" flipV="false" rot="0">
              <a:off x="0" y="0"/>
              <a:ext cx="11717909" cy="880491"/>
            </a:xfrm>
            <a:custGeom>
              <a:avLst/>
              <a:gdLst/>
              <a:ahLst/>
              <a:cxnLst/>
              <a:rect r="r" b="b" t="t" l="l"/>
              <a:pathLst>
                <a:path h="880491" w="11717909">
                  <a:moveTo>
                    <a:pt x="0" y="880491"/>
                  </a:moveTo>
                  <a:lnTo>
                    <a:pt x="0" y="13589"/>
                  </a:lnTo>
                  <a:cubicBezTo>
                    <a:pt x="0" y="6096"/>
                    <a:pt x="6096" y="0"/>
                    <a:pt x="13589" y="0"/>
                  </a:cubicBezTo>
                  <a:lnTo>
                    <a:pt x="11717909" y="0"/>
                  </a:lnTo>
                  <a:lnTo>
                    <a:pt x="11717909" y="27051"/>
                  </a:lnTo>
                  <a:lnTo>
                    <a:pt x="13589" y="27051"/>
                  </a:lnTo>
                  <a:lnTo>
                    <a:pt x="13589" y="13589"/>
                  </a:lnTo>
                  <a:lnTo>
                    <a:pt x="27051" y="13589"/>
                  </a:lnTo>
                  <a:lnTo>
                    <a:pt x="27051" y="880491"/>
                  </a:lnTo>
                  <a:close/>
                </a:path>
              </a:pathLst>
            </a:custGeom>
            <a:solidFill>
              <a:srgbClr val="365010"/>
            </a:solidFill>
          </p:spPr>
        </p:sp>
      </p:grpSp>
      <p:grpSp>
        <p:nvGrpSpPr>
          <p:cNvPr name="Group 4" id="4"/>
          <p:cNvGrpSpPr/>
          <p:nvPr/>
        </p:nvGrpSpPr>
        <p:grpSpPr>
          <a:xfrm rot="0">
            <a:off x="2957512" y="9244012"/>
            <a:ext cx="12372975" cy="28575"/>
            <a:chOff x="0" y="0"/>
            <a:chExt cx="11731413" cy="27093"/>
          </a:xfrm>
        </p:grpSpPr>
        <p:sp>
          <p:nvSpPr>
            <p:cNvPr name="Freeform 5" id="5"/>
            <p:cNvSpPr/>
            <p:nvPr/>
          </p:nvSpPr>
          <p:spPr>
            <a:xfrm flipH="false" flipV="false" rot="0">
              <a:off x="13589" y="0"/>
              <a:ext cx="11704320" cy="27051"/>
            </a:xfrm>
            <a:custGeom>
              <a:avLst/>
              <a:gdLst/>
              <a:ahLst/>
              <a:cxnLst/>
              <a:rect r="r" b="b" t="t" l="l"/>
              <a:pathLst>
                <a:path h="27051" w="11704320">
                  <a:moveTo>
                    <a:pt x="0" y="0"/>
                  </a:moveTo>
                  <a:lnTo>
                    <a:pt x="11704320" y="0"/>
                  </a:lnTo>
                  <a:lnTo>
                    <a:pt x="11704320" y="27051"/>
                  </a:lnTo>
                  <a:lnTo>
                    <a:pt x="0" y="27051"/>
                  </a:lnTo>
                  <a:close/>
                </a:path>
              </a:pathLst>
            </a:custGeom>
            <a:solidFill>
              <a:srgbClr val="365010"/>
            </a:solidFill>
          </p:spPr>
        </p:sp>
      </p:grpSp>
      <p:sp>
        <p:nvSpPr>
          <p:cNvPr name="TextBox 6" id="6"/>
          <p:cNvSpPr txBox="true"/>
          <p:nvPr/>
        </p:nvSpPr>
        <p:spPr>
          <a:xfrm rot="0">
            <a:off x="3314700" y="2650823"/>
            <a:ext cx="11658600" cy="4927495"/>
          </a:xfrm>
          <a:prstGeom prst="rect">
            <a:avLst/>
          </a:prstGeom>
        </p:spPr>
        <p:txBody>
          <a:bodyPr anchor="t" rtlCol="false" tIns="0" lIns="0" bIns="0" rIns="0">
            <a:spAutoFit/>
          </a:bodyPr>
          <a:lstStyle/>
          <a:p>
            <a:pPr algn="ctr">
              <a:lnSpc>
                <a:spcPts val="4773"/>
              </a:lnSpc>
            </a:pPr>
            <a:r>
              <a:rPr lang="en-US" sz="4420">
                <a:solidFill>
                  <a:srgbClr val="000000"/>
                </a:solidFill>
                <a:latin typeface="Times New Roman MT"/>
                <a:ea typeface="Times New Roman MT"/>
                <a:cs typeface="Times New Roman MT"/>
                <a:sym typeface="Times New Roman MT"/>
              </a:rPr>
              <a:t>        </a:t>
            </a:r>
            <a:r>
              <a:rPr lang="en-US" sz="4420">
                <a:solidFill>
                  <a:srgbClr val="365010"/>
                </a:solidFill>
                <a:latin typeface="Times New Roman MT"/>
                <a:ea typeface="Times New Roman MT"/>
                <a:cs typeface="Times New Roman MT"/>
                <a:sym typeface="Times New Roman MT"/>
              </a:rPr>
              <a:t>Our team envisions to create a waste segregation garbage bin, that is to be used in the commercial buildings where, the waste put inside will be segregated immediately and incase of unidentified waste, the latter will be bagged and moved to the bottom for collection at the end of the day, with the use of sensors and other technology.</a:t>
            </a:r>
          </a:p>
        </p:txBody>
      </p:sp>
      <p:sp>
        <p:nvSpPr>
          <p:cNvPr name="TextBox 7" id="7"/>
          <p:cNvSpPr txBox="true"/>
          <p:nvPr/>
        </p:nvSpPr>
        <p:spPr>
          <a:xfrm rot="0">
            <a:off x="3100388" y="366712"/>
            <a:ext cx="12087225" cy="971550"/>
          </a:xfrm>
          <a:prstGeom prst="rect">
            <a:avLst/>
          </a:prstGeom>
        </p:spPr>
        <p:txBody>
          <a:bodyPr anchor="t" rtlCol="false" tIns="0" lIns="0" bIns="0" rIns="0">
            <a:spAutoFit/>
          </a:bodyPr>
          <a:lstStyle/>
          <a:p>
            <a:pPr algn="ctr">
              <a:lnSpc>
                <a:spcPts val="6839"/>
              </a:lnSpc>
            </a:pPr>
            <a:r>
              <a:rPr lang="en-US" sz="5699">
                <a:solidFill>
                  <a:srgbClr val="365010"/>
                </a:solidFill>
                <a:latin typeface="Times New Roman MT"/>
                <a:ea typeface="Times New Roman MT"/>
                <a:cs typeface="Times New Roman MT"/>
                <a:sym typeface="Times New Roman MT"/>
              </a:rPr>
              <a:t>GOAL </a:t>
            </a:r>
            <a:r>
              <a:rPr lang="en-US" sz="5699">
                <a:solidFill>
                  <a:srgbClr val="365010"/>
                </a:solidFill>
                <a:latin typeface="Times New Roman MT"/>
                <a:ea typeface="Times New Roman MT"/>
                <a:cs typeface="Times New Roman MT"/>
                <a:sym typeface="Times New Roman MT"/>
              </a:rPr>
              <a:t>TO BE ACCOMPLISHED</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4B792"/>
        </a:solidFill>
      </p:bgPr>
    </p:bg>
    <p:spTree>
      <p:nvGrpSpPr>
        <p:cNvPr id="1" name=""/>
        <p:cNvGrpSpPr/>
        <p:nvPr/>
      </p:nvGrpSpPr>
      <p:grpSpPr>
        <a:xfrm>
          <a:off x="0" y="0"/>
          <a:ext cx="0" cy="0"/>
          <a:chOff x="0" y="0"/>
          <a:chExt cx="0" cy="0"/>
        </a:xfrm>
      </p:grpSpPr>
      <p:grpSp>
        <p:nvGrpSpPr>
          <p:cNvPr name="Group 2" id="2"/>
          <p:cNvGrpSpPr/>
          <p:nvPr/>
        </p:nvGrpSpPr>
        <p:grpSpPr>
          <a:xfrm rot="0">
            <a:off x="2843212" y="328612"/>
            <a:ext cx="12372975" cy="942975"/>
            <a:chOff x="0" y="0"/>
            <a:chExt cx="11731413" cy="894080"/>
          </a:xfrm>
        </p:grpSpPr>
        <p:sp>
          <p:nvSpPr>
            <p:cNvPr name="Freeform 3" id="3"/>
            <p:cNvSpPr/>
            <p:nvPr/>
          </p:nvSpPr>
          <p:spPr>
            <a:xfrm flipH="false" flipV="false" rot="0">
              <a:off x="0" y="0"/>
              <a:ext cx="11717909" cy="880491"/>
            </a:xfrm>
            <a:custGeom>
              <a:avLst/>
              <a:gdLst/>
              <a:ahLst/>
              <a:cxnLst/>
              <a:rect r="r" b="b" t="t" l="l"/>
              <a:pathLst>
                <a:path h="880491" w="11717909">
                  <a:moveTo>
                    <a:pt x="0" y="880491"/>
                  </a:moveTo>
                  <a:lnTo>
                    <a:pt x="0" y="13589"/>
                  </a:lnTo>
                  <a:cubicBezTo>
                    <a:pt x="0" y="6096"/>
                    <a:pt x="6096" y="0"/>
                    <a:pt x="13589" y="0"/>
                  </a:cubicBezTo>
                  <a:lnTo>
                    <a:pt x="11717909" y="0"/>
                  </a:lnTo>
                  <a:lnTo>
                    <a:pt x="11717909" y="27051"/>
                  </a:lnTo>
                  <a:lnTo>
                    <a:pt x="13589" y="27051"/>
                  </a:lnTo>
                  <a:lnTo>
                    <a:pt x="13589" y="13589"/>
                  </a:lnTo>
                  <a:lnTo>
                    <a:pt x="27051" y="13589"/>
                  </a:lnTo>
                  <a:lnTo>
                    <a:pt x="27051" y="880491"/>
                  </a:lnTo>
                  <a:close/>
                </a:path>
              </a:pathLst>
            </a:custGeom>
            <a:solidFill>
              <a:srgbClr val="365010"/>
            </a:solidFill>
          </p:spPr>
        </p:sp>
      </p:grpSp>
      <p:grpSp>
        <p:nvGrpSpPr>
          <p:cNvPr name="Group 4" id="4"/>
          <p:cNvGrpSpPr/>
          <p:nvPr/>
        </p:nvGrpSpPr>
        <p:grpSpPr>
          <a:xfrm rot="0">
            <a:off x="2957512" y="9244012"/>
            <a:ext cx="12372975" cy="28575"/>
            <a:chOff x="0" y="0"/>
            <a:chExt cx="11731413" cy="27093"/>
          </a:xfrm>
        </p:grpSpPr>
        <p:sp>
          <p:nvSpPr>
            <p:cNvPr name="Freeform 5" id="5"/>
            <p:cNvSpPr/>
            <p:nvPr/>
          </p:nvSpPr>
          <p:spPr>
            <a:xfrm flipH="false" flipV="false" rot="0">
              <a:off x="13589" y="0"/>
              <a:ext cx="11704320" cy="27051"/>
            </a:xfrm>
            <a:custGeom>
              <a:avLst/>
              <a:gdLst/>
              <a:ahLst/>
              <a:cxnLst/>
              <a:rect r="r" b="b" t="t" l="l"/>
              <a:pathLst>
                <a:path h="27051" w="11704320">
                  <a:moveTo>
                    <a:pt x="0" y="0"/>
                  </a:moveTo>
                  <a:lnTo>
                    <a:pt x="11704320" y="0"/>
                  </a:lnTo>
                  <a:lnTo>
                    <a:pt x="11704320" y="27051"/>
                  </a:lnTo>
                  <a:lnTo>
                    <a:pt x="0" y="27051"/>
                  </a:lnTo>
                  <a:close/>
                </a:path>
              </a:pathLst>
            </a:custGeom>
            <a:solidFill>
              <a:srgbClr val="365010"/>
            </a:solidFill>
          </p:spPr>
        </p:sp>
      </p:grpSp>
      <p:grpSp>
        <p:nvGrpSpPr>
          <p:cNvPr name="Group 6" id="6"/>
          <p:cNvGrpSpPr/>
          <p:nvPr/>
        </p:nvGrpSpPr>
        <p:grpSpPr>
          <a:xfrm rot="0">
            <a:off x="3181350" y="1809750"/>
            <a:ext cx="11925300" cy="1409700"/>
            <a:chOff x="0" y="0"/>
            <a:chExt cx="11306951" cy="1336604"/>
          </a:xfrm>
        </p:grpSpPr>
        <p:sp>
          <p:nvSpPr>
            <p:cNvPr name="Freeform 7" id="7"/>
            <p:cNvSpPr/>
            <p:nvPr/>
          </p:nvSpPr>
          <p:spPr>
            <a:xfrm flipH="false" flipV="false" rot="0">
              <a:off x="0" y="0"/>
              <a:ext cx="11288903" cy="1318514"/>
            </a:xfrm>
            <a:custGeom>
              <a:avLst/>
              <a:gdLst/>
              <a:ahLst/>
              <a:cxnLst/>
              <a:rect r="r" b="b" t="t" l="l"/>
              <a:pathLst>
                <a:path h="1318514" w="11288903">
                  <a:moveTo>
                    <a:pt x="0" y="1318514"/>
                  </a:moveTo>
                  <a:lnTo>
                    <a:pt x="0" y="18034"/>
                  </a:lnTo>
                  <a:cubicBezTo>
                    <a:pt x="0" y="8128"/>
                    <a:pt x="8128" y="0"/>
                    <a:pt x="18034" y="0"/>
                  </a:cubicBezTo>
                  <a:lnTo>
                    <a:pt x="11288903" y="0"/>
                  </a:lnTo>
                  <a:lnTo>
                    <a:pt x="11288903" y="36068"/>
                  </a:lnTo>
                  <a:lnTo>
                    <a:pt x="18034" y="36068"/>
                  </a:lnTo>
                  <a:lnTo>
                    <a:pt x="18034" y="18034"/>
                  </a:lnTo>
                  <a:lnTo>
                    <a:pt x="36068" y="18034"/>
                  </a:lnTo>
                  <a:lnTo>
                    <a:pt x="36068" y="1318514"/>
                  </a:lnTo>
                  <a:close/>
                </a:path>
              </a:pathLst>
            </a:custGeom>
            <a:solidFill>
              <a:srgbClr val="365010"/>
            </a:solidFill>
          </p:spPr>
        </p:sp>
      </p:grpSp>
      <p:grpSp>
        <p:nvGrpSpPr>
          <p:cNvPr name="Group 8" id="8"/>
          <p:cNvGrpSpPr/>
          <p:nvPr/>
        </p:nvGrpSpPr>
        <p:grpSpPr>
          <a:xfrm rot="0">
            <a:off x="5243512" y="5929312"/>
            <a:ext cx="9796462" cy="28575"/>
            <a:chOff x="0" y="0"/>
            <a:chExt cx="9288498" cy="27093"/>
          </a:xfrm>
        </p:grpSpPr>
        <p:sp>
          <p:nvSpPr>
            <p:cNvPr name="Freeform 9" id="9"/>
            <p:cNvSpPr/>
            <p:nvPr/>
          </p:nvSpPr>
          <p:spPr>
            <a:xfrm flipH="false" flipV="false" rot="0">
              <a:off x="13589" y="0"/>
              <a:ext cx="9261348" cy="27051"/>
            </a:xfrm>
            <a:custGeom>
              <a:avLst/>
              <a:gdLst/>
              <a:ahLst/>
              <a:cxnLst/>
              <a:rect r="r" b="b" t="t" l="l"/>
              <a:pathLst>
                <a:path h="27051" w="9261348">
                  <a:moveTo>
                    <a:pt x="0" y="0"/>
                  </a:moveTo>
                  <a:lnTo>
                    <a:pt x="9261348" y="0"/>
                  </a:lnTo>
                  <a:lnTo>
                    <a:pt x="9261348" y="27051"/>
                  </a:lnTo>
                  <a:lnTo>
                    <a:pt x="0" y="27051"/>
                  </a:lnTo>
                  <a:close/>
                </a:path>
              </a:pathLst>
            </a:custGeom>
            <a:solidFill>
              <a:srgbClr val="365010"/>
            </a:solidFill>
          </p:spPr>
        </p:sp>
      </p:grpSp>
      <p:sp>
        <p:nvSpPr>
          <p:cNvPr name="Freeform 10" id="10"/>
          <p:cNvSpPr/>
          <p:nvPr/>
        </p:nvSpPr>
        <p:spPr>
          <a:xfrm flipH="false" flipV="false" rot="0">
            <a:off x="6666746" y="1843087"/>
            <a:ext cx="4167845" cy="4114800"/>
          </a:xfrm>
          <a:custGeom>
            <a:avLst/>
            <a:gdLst/>
            <a:ahLst/>
            <a:cxnLst/>
            <a:rect r="r" b="b" t="t" l="l"/>
            <a:pathLst>
              <a:path h="4114800" w="4167845">
                <a:moveTo>
                  <a:pt x="0" y="0"/>
                </a:moveTo>
                <a:lnTo>
                  <a:pt x="4167846" y="0"/>
                </a:lnTo>
                <a:lnTo>
                  <a:pt x="4167846" y="4114801"/>
                </a:lnTo>
                <a:lnTo>
                  <a:pt x="0" y="41148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3557587" y="2331244"/>
            <a:ext cx="11401425" cy="1178123"/>
          </a:xfrm>
          <a:prstGeom prst="rect">
            <a:avLst/>
          </a:prstGeom>
        </p:spPr>
        <p:txBody>
          <a:bodyPr anchor="t" rtlCol="false" tIns="0" lIns="0" bIns="0" rIns="0">
            <a:spAutoFit/>
          </a:bodyPr>
          <a:lstStyle/>
          <a:p>
            <a:pPr algn="l">
              <a:lnSpc>
                <a:spcPts val="8280"/>
              </a:lnSpc>
            </a:pPr>
            <a:r>
              <a:rPr lang="en-US" sz="6900">
                <a:solidFill>
                  <a:srgbClr val="365010"/>
                </a:solidFill>
                <a:latin typeface="Times New Roman MT"/>
                <a:ea typeface="Times New Roman MT"/>
                <a:cs typeface="Times New Roman MT"/>
                <a:sym typeface="Times New Roman MT"/>
              </a:rPr>
              <a:t>“Green life, Clean life.”</a:t>
            </a:r>
          </a:p>
        </p:txBody>
      </p:sp>
      <p:sp>
        <p:nvSpPr>
          <p:cNvPr name="TextBox 12" id="12"/>
          <p:cNvSpPr txBox="true"/>
          <p:nvPr/>
        </p:nvSpPr>
        <p:spPr>
          <a:xfrm rot="0">
            <a:off x="5386388" y="5817394"/>
            <a:ext cx="9572625" cy="2690812"/>
          </a:xfrm>
          <a:prstGeom prst="rect">
            <a:avLst/>
          </a:prstGeom>
        </p:spPr>
        <p:txBody>
          <a:bodyPr anchor="t" rtlCol="false" tIns="0" lIns="0" bIns="0" rIns="0">
            <a:spAutoFit/>
          </a:bodyPr>
          <a:lstStyle/>
          <a:p>
            <a:pPr algn="l">
              <a:lnSpc>
                <a:spcPts val="11880"/>
              </a:lnSpc>
            </a:pPr>
            <a:r>
              <a:rPr lang="en-US" b="true" sz="9900">
                <a:solidFill>
                  <a:srgbClr val="365010"/>
                </a:solidFill>
                <a:latin typeface="Times New Roman MT Bold"/>
                <a:ea typeface="Times New Roman MT Bold"/>
                <a:cs typeface="Times New Roman MT Bold"/>
                <a:sym typeface="Times New Roman MT Bold"/>
              </a:rPr>
              <a:t>Thank you</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DAGz-CT8QPM</dc:identifier>
  <dcterms:modified xsi:type="dcterms:W3CDTF">2011-08-01T06:04:30Z</dcterms:modified>
  <cp:revision>1</cp:revision>
  <dc:title>WASTE SEGREGATOR</dc:title>
</cp:coreProperties>
</file>